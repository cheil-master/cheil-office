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1A1A1A"/>
                </a:solidFill>
                <a:latin typeface="맑은 고딕"/>
              </a:rPr>
              <a:t>[광고주] [캠페인명] [월] 성과 보고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800" b="0">
                <a:solidFill>
                  <a:srgbClr val="5A5F66"/>
                </a:solidFill>
                <a:latin typeface="맑은 고딕"/>
              </a:rPr>
              <a:t>[작성일]  ·  [팀명]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1A"/>
                </a:solidFill>
                <a:latin typeface="맑은 고딕"/>
              </a:rPr>
              <a:t>[이번 달 결론 한 문장]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성과: [핵심 지표 달성 결과]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원인: [가장 큰 원인 하나]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다음 달: [제안 요약]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600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맑은 고딕"/>
              </a:rPr>
              <a:t>요약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1A"/>
                </a:solidFill>
                <a:latin typeface="맑은 고딕"/>
              </a:rPr>
              <a:t>[KPI 결과 한 문장]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00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맑은 고딕"/>
              </a:rPr>
              <a:t>01  KPI 달성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00000"/>
          <a:ext cx="11277600" cy="1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42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실적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달성률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전월 대비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[지표 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[지표 1 목표]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[지표 1 실적]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[지표 1 달성률]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[지표 1 전월 대비]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[지표 2]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[지표 2 목표]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[지표 2 실적]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[지표 2 달성률]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[지표 2 전월 대비]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[지표 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[지표 3 목표]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[지표 3 실적]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[지표 3 달성률]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[지표 3 전월 대비]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8000"/>
            <a:ext cx="112776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F66"/>
                </a:solidFill>
                <a:latin typeface="맑은 고딕"/>
              </a:rPr>
              <a:t>달성률 = 실적 ÷ 목표. 숫자는 실적표에 있는 것만 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1A"/>
                </a:solidFill>
                <a:latin typeface="맑은 고딕"/>
              </a:rPr>
              <a:t>[매체 성과 한 문장]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00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맑은 고딕"/>
              </a:rPr>
              <a:t>02  매체별 성과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00000"/>
          <a:ext cx="11277600" cy="2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600"/>
                <a:gridCol w="1879600"/>
                <a:gridCol w="1879600"/>
                <a:gridCol w="1879600"/>
                <a:gridCol w="1879600"/>
                <a:gridCol w="1879600"/>
              </a:tblGrid>
              <a:tr h="42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매체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집행 금액(원)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노출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클릭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CTR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CPC(원)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[매체 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[매체 1 집행 금액]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[매체 1 노출]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[매체 1 클릭]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[매체 1 CTR]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[매체 1 CPC]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[매체 2]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[매체 2 집행 금액]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[매체 2 노출]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[매체 2 클릭]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[매체 2 CTR]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[매체 2 CPC]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[매체 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[매체 3 집행 금액]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[매체 3 노출]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[매체 3 클릭]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[매체 3 CTR]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[매체 3 CPC]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[집행 금액 합계]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[노출 합계]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[클릭 합계]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[전체 CTR]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[전체 CPC]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1A"/>
                </a:solidFill>
                <a:latin typeface="맑은 고딕"/>
              </a:rPr>
              <a:t>[잘된 소재와 이유 한 문장]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[소재 1]: [소재 1의 지표와 해석]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[소재 2]: [소재 2의 지표와 해석]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600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맑은 고딕"/>
              </a:rPr>
              <a:t>03  크리에이티브별 성과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1A"/>
                </a:solidFill>
                <a:latin typeface="맑은 고딕"/>
              </a:rPr>
              <a:t>[결과를 만든 원인 한 문장]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잘된 점: [잘된 점 — 사실과 근거 숫자]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아쉬운 점: [아쉬운 점 — 사실과 근거 숫자]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외부 요인: [시즌·경쟁·이슈, 출처]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600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맑은 고딕"/>
              </a:rPr>
              <a:t>04  원인 분석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1A"/>
                </a:solidFill>
                <a:latin typeface="맑은 고딕"/>
              </a:rPr>
              <a:t>[다음 달 방향 한 문장]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제안 1: [제안 1 — 무엇을 / 왜 / 기대 효과]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제안 2: [제안 2 — 무엇을 / 왜 / 기대 효과]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제안 3: [제안 3 — 무엇을 / 왜 / 기대 효과]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600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맑은 고딕"/>
              </a:rPr>
              <a:t>05  다음 달 제안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1A"/>
                </a:solidFill>
                <a:latin typeface="맑은 고딕"/>
              </a:rPr>
              <a:t>데이터 출처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실적: [매체 리포트·파일명, 추출일]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목표: [합의 문서·날짜]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600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맑은 고딕"/>
              </a:rPr>
              <a:t>부록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