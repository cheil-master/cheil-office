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A1A1A"/>
                </a:solidFill>
                <a:latin typeface="맑은 고딕"/>
              </a:rPr>
              <a:t>[광고주] [캠페인명] 캠페인 결과 보고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1800" b="0">
                <a:solidFill>
                  <a:srgbClr val="5A5F66"/>
                </a:solidFill>
                <a:latin typeface="맑은 고딕"/>
              </a:rPr>
              <a:t>[작성일]  ·  [팀명]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[캠페인 결과를 한 문장으로]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0000"/>
            <a:ext cx="11277600" cy="4500000"/>
          </a:xfrm>
        </p:spPr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정량 성과: [가장 중요한 지표의 결과 — 목표 대비]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정성 성과: [가장 눈에 띈 반응]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잘된 이유: [성과를 만든 가장 큰 이유]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다음 캠페인: [제안 요약]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캠페인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01  캠페인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50000"/>
            <a:ext cx="54888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3D91"/>
                </a:solidFill>
                <a:latin typeface="맑은 고딕"/>
              </a:rPr>
              <a:t>캠페인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0000"/>
            <a:ext cx="54888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브랜드·제품: [브랜드·제품]</a:t>
            </a:r>
          </a:p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캠페인 목표: [캠페인 목표]</a:t>
            </a:r>
          </a:p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KPI: [KPI]</a:t>
            </a:r>
          </a:p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소재: [운영 소재 — 편 수·초수]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6000" y="1650000"/>
            <a:ext cx="54888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3D91"/>
                </a:solidFill>
                <a:latin typeface="맑은 고딕"/>
              </a:rPr>
              <a:t>매체 운영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6000" y="2100000"/>
            <a:ext cx="54888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타깃: [타깃]</a:t>
            </a:r>
          </a:p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기간: [캠페인 기간]</a:t>
            </a:r>
          </a:p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총예산: [총예산]</a:t>
            </a:r>
          </a:p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집행 매체: [집행 매체와 예산 비중]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[미디어 운영 방향 한 문장]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02  미디어 운영 방향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방향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무엇을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주요 매체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[운영 방향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[운영 방향 1의 내용]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[운영 방향 1의 매체]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[운영 방향 2]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[운영 방향 2의 내용]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[운영 방향 2의 매체]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[운영 방향 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[운영 방향 3의 내용]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[운영 방향 3의 매체]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[KPI 결과 한 문장]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03  주요 성과: 정량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달성률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1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1 결과]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1 달성률]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2]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2 목표]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2 결과]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2 달성률]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3 목표]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3 결과]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3 달성률]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4]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4 목표]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4 결과]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[지표 4 달성률]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8000"/>
            <a:ext cx="112776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F66"/>
                </a:solidFill>
                <a:latin typeface="맑은 고딕"/>
              </a:rPr>
              <a:t>달성률 = 결과 ÷ 목표. 숫자는 매체 리포트·실적표에 있는 것만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매체별 집행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03  주요 성과: 정량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700"/>
                <a:gridCol w="1409700"/>
                <a:gridCol w="1409700"/>
                <a:gridCol w="1409700"/>
                <a:gridCol w="1409700"/>
                <a:gridCol w="1409700"/>
                <a:gridCol w="1409700"/>
                <a:gridCol w="14097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매체·상품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집행비용(원)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노출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CTR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CPM(원)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CPV(원)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집행비용]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노출]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조회]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클릭]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CTR]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CPM]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1 CPV]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집행비용]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노출]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조회]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클릭]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CTR]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CPM]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2 CPV]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집행비용]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노출]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조회]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클릭]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CTR]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CPM]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3 CPV]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4]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4 집행비용]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4 노출]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4 조회]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4 클릭]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4 CTR]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4 CPM]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[매체 4 CPV]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[집행비용 합계]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[노출 합계]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[조회 합계]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[클릭 합계]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[전체 CTR]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[전체 CPM]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[전체 CPV]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8000"/>
            <a:ext cx="112776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F66"/>
                </a:solidFill>
                <a:latin typeface="맑은 고딕"/>
              </a:rPr>
              <a:t>CTR = 클릭 ÷ 노출, CPM = 집행비용 ÷ 노출 × 1000, CPV = 집행비용 ÷ 조회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[검색량·인게이지먼트 변화 한 문장]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03  주요 성과: 정량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캠페인 전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캠페인 중·후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변화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1 캠페인 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1 캠페인 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1 변화]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2]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2 캠페인 전]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2 캠페인 후]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2 변화]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3 캠페인 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3 캠페인 후]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[반응 지표 3 변화]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58000"/>
            <a:ext cx="112776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A5F66"/>
                </a:solidFill>
                <a:latin typeface="맑은 고딕"/>
              </a:rPr>
              <a:t>검색량·버즈량·인게이지먼트·공유 등. 출처와 기간을 함께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[소비자·시장 반응 한 문장]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0000"/>
            <a:ext cx="11277600" cy="4500000"/>
          </a:xfrm>
        </p:spPr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세일즈 연계: [판촉·구매와 연결된 결과]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기사 반응: [기사 반응 — 매체명·날짜]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소비자 반응: [댓글·후기에서 보인 반응 — 대표 문장]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기타 성과: [수상·순위·자발적 확산 등]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04  주요 성과: 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[가장 반응이 좋았던 소재와 이유]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05  소재별 결과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0000"/>
          <a:ext cx="112776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소재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핵심 메시지·장치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주요 반응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미디어 성과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1 메시지·장치]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1 주요 반응]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1 미디어 성과]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2]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2 메시지·장치]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2 주요 반응]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2 미디어 성과]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3 메시지·장치]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3 주요 반응]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맑은 고딕"/>
                        </a:rPr>
                        <a:t>[소재 3 미디어 성과]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[이번 캠페인이 남긴 배움 한 문장]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06  인사이트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50000"/>
            <a:ext cx="54888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3D91"/>
                </a:solidFill>
                <a:latin typeface="맑은 고딕"/>
              </a:rPr>
              <a:t>잘된 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0000"/>
            <a:ext cx="54888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[잘된 점 1 — 사실과 근거 숫자]</a:t>
            </a:r>
          </a:p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[잘된 점 2 — 사실과 근거 숫자]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6000" y="1650000"/>
            <a:ext cx="54888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B3D91"/>
                </a:solidFill>
                <a:latin typeface="맑은 고딕"/>
              </a:rPr>
              <a:t>아쉬운 점·외부 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6000" y="2100000"/>
            <a:ext cx="54888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[아쉬운 점 — 사실과 근거 숫자]</a:t>
            </a:r>
          </a:p>
          <a:p>
            <a:pPr/>
            <a:r>
              <a:rPr sz="1500" b="0">
                <a:solidFill>
                  <a:srgbClr val="1A1A1A"/>
                </a:solidFill>
                <a:latin typeface="맑은 고딕"/>
              </a:rPr>
              <a:t>[외부 요인 — 시즌·경쟁·이슈, 출처]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[다음 캠페인 방향 한 문장]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0000"/>
            <a:ext cx="11277600" cy="4500000"/>
          </a:xfrm>
        </p:spPr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제안 1: [제안 1 — 무엇을 / 왜 / 기대 효과]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제안 2: [제안 2 — 무엇을 / 왜 / 기대 효과]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제안 3: [제안 3 — 무엇을 / 왜 / 기대 효과]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07  다음 캠페인 제안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60000"/>
            <a:ext cx="11277600" cy="800000"/>
          </a:xfrm>
        </p:spPr>
        <p:txBody>
          <a:bodyPr/>
          <a:lstStyle/>
          <a:p>
            <a:pPr algn="l"/>
            <a:r>
              <a:rPr sz="2400" b="1">
                <a:solidFill>
                  <a:srgbClr val="1A1A1A"/>
                </a:solidFill>
                <a:latin typeface="맑은 고딕"/>
              </a:rPr>
              <a:t>데이터 출처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50000"/>
            <a:ext cx="11277600" cy="4500000"/>
          </a:xfrm>
        </p:spPr>
        <p:txBody>
          <a:bodyPr/>
          <a:lstStyle/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매체 실적: [매체 리포트·파일명, 추출일]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검색·반응 데이터: [도구·기간]</a:t>
            </a:r>
          </a:p>
          <a:p>
            <a:pPr/>
            <a:r>
              <a:rPr sz="1800" b="0">
                <a:solidFill>
                  <a:srgbClr val="1A1A1A"/>
                </a:solidFill>
                <a:latin typeface="맑은 고딕"/>
              </a:rPr>
              <a:t>목표: [합의 문서·날짜]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600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맑은 고딕"/>
              </a:rPr>
              <a:t>부록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