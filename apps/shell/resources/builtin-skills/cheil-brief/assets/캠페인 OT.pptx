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000" b="1">
                <a:solidFill>
                  <a:srgbClr val="1A1A1A"/>
                </a:solidFill>
                <a:latin typeface="맑은 고딕"/>
              </a:rPr>
              <a:t>[캠페인명] 캠페인 OT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sz="1800" b="0">
                <a:solidFill>
                  <a:srgbClr val="5A5F66"/>
                </a:solidFill>
                <a:latin typeface="맑은 고딕"/>
              </a:rPr>
              <a:t>[광고주]  ·  [브랜드·제품]</a:t>
            </a:r>
          </a:p>
          <a:p>
            <a:pPr algn="ctr"/>
            <a:r>
              <a:rPr sz="1800" b="0">
                <a:solidFill>
                  <a:srgbClr val="5A5F66"/>
                </a:solidFill>
                <a:latin typeface="맑은 고딕"/>
              </a:rPr>
              <a:t>[작성일]  ·  [팀명]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60000"/>
            <a:ext cx="11277600" cy="800000"/>
          </a:xfrm>
        </p:spPr>
        <p:txBody>
          <a:bodyPr/>
          <a:lstStyle/>
          <a:p>
            <a:pPr algn="l"/>
            <a:r>
              <a:rPr sz="2400" b="1">
                <a:solidFill>
                  <a:srgbClr val="1A1A1A"/>
                </a:solidFill>
                <a:latin typeface="맑은 고딕"/>
              </a:rPr>
              <a:t>오늘 공유할 이야기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50000"/>
            <a:ext cx="11277600" cy="4500000"/>
          </a:xfrm>
        </p:spPr>
        <p:txBody>
          <a:bodyPr/>
          <a:lstStyle/>
          <a:p>
            <a:pPr/>
            <a:r>
              <a:rPr sz="1800" b="0">
                <a:solidFill>
                  <a:srgbClr val="1A1A1A"/>
                </a:solidFill>
                <a:latin typeface="맑은 고딕"/>
              </a:rPr>
              <a:t>01  지난 캠페인 성과와 현황</a:t>
            </a:r>
          </a:p>
          <a:p>
            <a:pPr/>
            <a:r>
              <a:rPr sz="1800" b="0">
                <a:solidFill>
                  <a:srgbClr val="1A1A1A"/>
                </a:solidFill>
                <a:latin typeface="맑은 고딕"/>
              </a:rPr>
              <a:t>02  시장·경쟁 상황</a:t>
            </a:r>
          </a:p>
          <a:p>
            <a:pPr/>
            <a:r>
              <a:rPr sz="1800" b="0">
                <a:solidFill>
                  <a:srgbClr val="1A1A1A"/>
                </a:solidFill>
                <a:latin typeface="맑은 고딕"/>
              </a:rPr>
              <a:t>03  이번 캠페인 과제</a:t>
            </a:r>
          </a:p>
          <a:p>
            <a:pPr/>
            <a:r>
              <a:rPr sz="1800" b="0">
                <a:solidFill>
                  <a:srgbClr val="1A1A1A"/>
                </a:solidFill>
                <a:latin typeface="맑은 고딕"/>
              </a:rPr>
              <a:t>04  타깃</a:t>
            </a:r>
          </a:p>
          <a:p>
            <a:pPr/>
            <a:r>
              <a:rPr sz="1800" b="0">
                <a:solidFill>
                  <a:srgbClr val="1A1A1A"/>
                </a:solidFill>
                <a:latin typeface="맑은 고딕"/>
              </a:rPr>
              <a:t>05  메시지와 RTB</a:t>
            </a:r>
          </a:p>
          <a:p>
            <a:pPr/>
            <a:r>
              <a:rPr sz="1800" b="0">
                <a:solidFill>
                  <a:srgbClr val="1A1A1A"/>
                </a:solidFill>
                <a:latin typeface="맑은 고딕"/>
              </a:rPr>
              <a:t>06  크리에이티브 가이드</a:t>
            </a:r>
          </a:p>
          <a:p>
            <a:pPr/>
            <a:r>
              <a:rPr sz="1800" b="0">
                <a:solidFill>
                  <a:srgbClr val="1A1A1A"/>
                </a:solidFill>
                <a:latin typeface="맑은 고딕"/>
              </a:rPr>
              <a:t>07  소재 운영 구조</a:t>
            </a:r>
          </a:p>
          <a:p>
            <a:pPr/>
            <a:r>
              <a:rPr sz="1800" b="0">
                <a:solidFill>
                  <a:srgbClr val="1A1A1A"/>
                </a:solidFill>
                <a:latin typeface="맑은 고딕"/>
              </a:rPr>
              <a:t>08  산출물·일정·예산</a:t>
            </a:r>
          </a:p>
          <a:p>
            <a:pPr/>
            <a:r>
              <a:rPr sz="1800" b="0">
                <a:solidFill>
                  <a:srgbClr val="1A1A1A"/>
                </a:solidFill>
                <a:latin typeface="맑은 고딕"/>
              </a:rPr>
              <a:t>09  레퍼런스와 아이디어 단초</a:t>
            </a:r>
          </a:p>
          <a:p>
            <a:pPr/>
            <a:r>
              <a:rPr sz="1800" b="0">
                <a:solidFill>
                  <a:srgbClr val="1A1A1A"/>
                </a:solidFill>
                <a:latin typeface="맑은 고딕"/>
              </a:rPr>
              <a:t>10  확인할 것과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600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3D91"/>
                </a:solidFill>
                <a:latin typeface="맑은 고딕"/>
              </a:rPr>
              <a:t>오늘 공유할 이야기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60000"/>
            <a:ext cx="11277600" cy="800000"/>
          </a:xfrm>
        </p:spPr>
        <p:txBody>
          <a:bodyPr/>
          <a:lstStyle/>
          <a:p>
            <a:pPr algn="l"/>
            <a:r>
              <a:rPr sz="2400" b="1">
                <a:solidFill>
                  <a:srgbClr val="1A1A1A"/>
                </a:solidFill>
                <a:latin typeface="맑은 고딕"/>
              </a:rPr>
              <a:t>[지난 캠페인을 한 문장으로: 무엇을 했고 무엇이 남았나]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50000"/>
            <a:ext cx="11277600" cy="4500000"/>
          </a:xfrm>
        </p:spPr>
        <p:txBody>
          <a:bodyPr/>
          <a:lstStyle/>
          <a:p>
            <a:pPr/>
            <a:r>
              <a:rPr sz="1800" b="0">
                <a:solidFill>
                  <a:srgbClr val="1A1A1A"/>
                </a:solidFill>
                <a:latin typeface="맑은 고딕"/>
              </a:rPr>
              <a:t>지난 목표: [지난 캠페인 목표]</a:t>
            </a:r>
          </a:p>
          <a:p>
            <a:pPr/>
            <a:r>
              <a:rPr sz="1800" b="0">
                <a:solidFill>
                  <a:srgbClr val="1A1A1A"/>
                </a:solidFill>
                <a:latin typeface="맑은 고딕"/>
              </a:rPr>
              <a:t>진행 내용: [지난 캠페인에서 한 것 — 메시지·장치·매체]</a:t>
            </a:r>
          </a:p>
          <a:p>
            <a:pPr/>
            <a:r>
              <a:rPr sz="1800" b="0">
                <a:solidFill>
                  <a:srgbClr val="1A1A1A"/>
                </a:solidFill>
                <a:latin typeface="맑은 고딕"/>
              </a:rPr>
              <a:t>성과: [지난 캠페인 성과 — 숫자는 출처와 함께]</a:t>
            </a:r>
          </a:p>
          <a:p>
            <a:pPr/>
            <a:r>
              <a:rPr sz="1800" b="0">
                <a:solidFill>
                  <a:srgbClr val="1A1A1A"/>
                </a:solidFill>
                <a:latin typeface="맑은 고딕"/>
              </a:rPr>
              <a:t>남은 과제: [지난 캠페인에서 아쉬웠던 점]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600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3D91"/>
                </a:solidFill>
                <a:latin typeface="맑은 고딕"/>
              </a:rPr>
              <a:t>01  지난 캠페인 성과와 현황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60000"/>
            <a:ext cx="11277600" cy="800000"/>
          </a:xfrm>
        </p:spPr>
        <p:txBody>
          <a:bodyPr/>
          <a:lstStyle/>
          <a:p>
            <a:pPr algn="l"/>
            <a:r>
              <a:rPr sz="2400" b="1">
                <a:solidFill>
                  <a:srgbClr val="1A1A1A"/>
                </a:solidFill>
                <a:latin typeface="맑은 고딕"/>
              </a:rPr>
              <a:t>지난 캠페인 리뷰 → 이번에 가져갈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600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3D91"/>
                </a:solidFill>
                <a:latin typeface="맑은 고딕"/>
              </a:rPr>
              <a:t>01  지난 캠페인 성과와 현황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700000"/>
          <a:ext cx="11277600" cy="16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800"/>
                <a:gridCol w="5638800"/>
              </a:tblGrid>
              <a:tr h="420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지난 캠페인에서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이번 캠페인에서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[리뷰 1]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[리뷰 1을 이번에 활용·보완하는 법]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[리뷰 2]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[리뷰 2을 이번에 활용·보완하는 법]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[리뷰 3]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[리뷰 3을 이번에 활용·보완하는 법]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60000"/>
            <a:ext cx="11277600" cy="800000"/>
          </a:xfrm>
        </p:spPr>
        <p:txBody>
          <a:bodyPr/>
          <a:lstStyle/>
          <a:p>
            <a:pPr algn="l"/>
            <a:r>
              <a:rPr sz="2400" b="1">
                <a:solidFill>
                  <a:srgbClr val="1A1A1A"/>
                </a:solidFill>
                <a:latin typeface="맑은 고딕"/>
              </a:rPr>
              <a:t>[시장에서 보이는 결론 한 문장]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50000"/>
            <a:ext cx="11277600" cy="4500000"/>
          </a:xfrm>
        </p:spPr>
        <p:txBody>
          <a:bodyPr/>
          <a:lstStyle/>
          <a:p>
            <a:pPr/>
            <a:r>
              <a:rPr sz="1800" b="0">
                <a:solidFill>
                  <a:srgbClr val="1A1A1A"/>
                </a:solidFill>
                <a:latin typeface="맑은 고딕"/>
              </a:rPr>
              <a:t>시장 변화: [시장 변화] (출처: [시장 변화의 자료명·날짜])</a:t>
            </a:r>
          </a:p>
          <a:p>
            <a:pPr/>
            <a:r>
              <a:rPr sz="1800" b="0">
                <a:solidFill>
                  <a:srgbClr val="1A1A1A"/>
                </a:solidFill>
                <a:latin typeface="맑은 고딕"/>
              </a:rPr>
              <a:t>경쟁사 동향: [경쟁사 동향] (출처: [경쟁사 동향의 자료명·날짜])</a:t>
            </a:r>
          </a:p>
          <a:p>
            <a:pPr/>
            <a:r>
              <a:rPr sz="1800" b="0">
                <a:solidFill>
                  <a:srgbClr val="1A1A1A"/>
                </a:solidFill>
                <a:latin typeface="맑은 고딕"/>
              </a:rPr>
              <a:t>우리 상황: [우리 브랜드·제품의 지금 위치]</a:t>
            </a:r>
          </a:p>
          <a:p>
            <a:pPr/>
            <a:r>
              <a:rPr sz="1800" b="0">
                <a:solidFill>
                  <a:srgbClr val="1A1A1A"/>
                </a:solidFill>
                <a:latin typeface="맑은 고딕"/>
              </a:rPr>
              <a:t>시사점: [그래서 이번 캠페인에 열려 있는 기회]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600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3D91"/>
                </a:solidFill>
                <a:latin typeface="맑은 고딕"/>
              </a:rPr>
              <a:t>02  시장·경쟁 상황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60000"/>
            <a:ext cx="11277600" cy="800000"/>
          </a:xfrm>
        </p:spPr>
        <p:txBody>
          <a:bodyPr/>
          <a:lstStyle/>
          <a:p>
            <a:pPr algn="l"/>
            <a:r>
              <a:rPr sz="2400" b="1">
                <a:solidFill>
                  <a:srgbClr val="1A1A1A"/>
                </a:solidFill>
                <a:latin typeface="맑은 고딕"/>
              </a:rPr>
              <a:t>[이번 캠페인 목표 한 문장]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600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3D91"/>
                </a:solidFill>
                <a:latin typeface="맑은 고딕"/>
              </a:rPr>
              <a:t>03  이번 캠페인 과제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50000"/>
            <a:ext cx="54888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B3D91"/>
                </a:solidFill>
                <a:latin typeface="맑은 고딕"/>
              </a:rPr>
              <a:t>과제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0000"/>
            <a:ext cx="5488800" cy="3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 b="0">
                <a:solidFill>
                  <a:srgbClr val="1A1A1A"/>
                </a:solidFill>
                <a:latin typeface="맑은 고딕"/>
              </a:rPr>
              <a:t>사업 과제: [광고주가 풀려는 사업 문제]</a:t>
            </a:r>
          </a:p>
          <a:p>
            <a:pPr/>
            <a:r>
              <a:rPr sz="1500" b="0">
                <a:solidFill>
                  <a:srgbClr val="1A1A1A"/>
                </a:solidFill>
                <a:latin typeface="맑은 고딕"/>
              </a:rPr>
              <a:t>커뮤니케이션 과제: [광고가 바꿔야 할 인식·행동]</a:t>
            </a:r>
          </a:p>
          <a:p>
            <a:pPr/>
            <a:r>
              <a:rPr sz="1500" b="0">
                <a:solidFill>
                  <a:srgbClr val="1A1A1A"/>
                </a:solidFill>
                <a:latin typeface="맑은 고딕"/>
              </a:rPr>
              <a:t>KPI: [KPI]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6000" y="1650000"/>
            <a:ext cx="54888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B3D91"/>
                </a:solidFill>
                <a:latin typeface="맑은 고딕"/>
              </a:rPr>
              <a:t>캠페인 구조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46000" y="2100000"/>
            <a:ext cx="5488800" cy="3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 b="0">
                <a:solidFill>
                  <a:srgbClr val="1A1A1A"/>
                </a:solidFill>
                <a:latin typeface="맑은 고딕"/>
              </a:rPr>
              <a:t>[구조 요소 1] + [구조 요소 2] + [구조 요소 3]</a:t>
            </a:r>
          </a:p>
          <a:p>
            <a:pPr/>
            <a:r>
              <a:rPr sz="1500" b="0">
                <a:solidFill>
                  <a:srgbClr val="1A1A1A"/>
                </a:solidFill>
                <a:latin typeface="맑은 고딕"/>
              </a:rPr>
              <a:t>구조 설명: [세 요소가 어떻게 하나의 캠페인이 되나]</a:t>
            </a:r>
          </a:p>
          <a:p>
            <a:pPr/>
            <a:r>
              <a:rPr sz="1500" b="0">
                <a:solidFill>
                  <a:srgbClr val="1A1A1A"/>
                </a:solidFill>
                <a:latin typeface="맑은 고딕"/>
              </a:rPr>
              <a:t>광고주 예시 컨셉: [광고주가 OT에서 준 예시 컨셉 문장]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60000"/>
            <a:ext cx="11277600" cy="800000"/>
          </a:xfrm>
        </p:spPr>
        <p:txBody>
          <a:bodyPr/>
          <a:lstStyle/>
          <a:p>
            <a:pPr algn="l"/>
            <a:r>
              <a:rPr sz="2400" b="1">
                <a:solidFill>
                  <a:srgbClr val="1A1A1A"/>
                </a:solidFill>
                <a:latin typeface="맑은 고딕"/>
              </a:rPr>
              <a:t>[타깃의 숨은 긴장을 한 문장으로]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600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3D91"/>
                </a:solidFill>
                <a:latin typeface="맑은 고딕"/>
              </a:rPr>
              <a:t>04  타깃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50000"/>
            <a:ext cx="54888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B3D91"/>
                </a:solidFill>
                <a:latin typeface="맑은 고딕"/>
              </a:rPr>
              <a:t>누구에게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0000"/>
            <a:ext cx="5488800" cy="3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 b="0">
                <a:solidFill>
                  <a:srgbClr val="1A1A1A"/>
                </a:solidFill>
                <a:latin typeface="맑은 고딕"/>
              </a:rPr>
              <a:t>핵심 타깃: [타깃]</a:t>
            </a:r>
          </a:p>
          <a:p>
            <a:pPr/>
            <a:r>
              <a:rPr sz="1500" b="0">
                <a:solidFill>
                  <a:srgbClr val="1A1A1A"/>
                </a:solidFill>
                <a:latin typeface="맑은 고딕"/>
              </a:rPr>
              <a:t>확장 타깃: [확장 타깃]</a:t>
            </a:r>
          </a:p>
          <a:p>
            <a:pPr/>
            <a:r>
              <a:rPr sz="1500" b="0">
                <a:solidFill>
                  <a:srgbClr val="1A1A1A"/>
                </a:solidFill>
                <a:latin typeface="맑은 고딕"/>
              </a:rPr>
              <a:t>지금의 생각·행동: [자료로 확인된 타깃의 생각·행동]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6000" y="1650000"/>
            <a:ext cx="54888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B3D91"/>
                </a:solidFill>
                <a:latin typeface="맑은 고딕"/>
              </a:rPr>
              <a:t>인사이트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46000" y="2100000"/>
            <a:ext cx="5488800" cy="3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 b="0">
                <a:solidFill>
                  <a:srgbClr val="1A1A1A"/>
                </a:solidFill>
                <a:latin typeface="맑은 고딕"/>
              </a:rPr>
              <a:t>인사이트: [~하지만 ~하다 꼴의 한 문장]</a:t>
            </a:r>
          </a:p>
          <a:p>
            <a:pPr/>
            <a:r>
              <a:rPr sz="1500" b="0">
                <a:solidFill>
                  <a:srgbClr val="1A1A1A"/>
                </a:solidFill>
                <a:latin typeface="맑은 고딕"/>
              </a:rPr>
              <a:t>근거: [인사이트의 근거 자료]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60000"/>
            <a:ext cx="11277600" cy="800000"/>
          </a:xfrm>
        </p:spPr>
        <p:txBody>
          <a:bodyPr/>
          <a:lstStyle/>
          <a:p>
            <a:pPr algn="l"/>
            <a:r>
              <a:rPr sz="2400" b="1">
                <a:solidFill>
                  <a:srgbClr val="1A1A1A"/>
                </a:solidFill>
                <a:latin typeface="맑은 고딕"/>
              </a:rPr>
              <a:t>[핵심 메시지: 타깃이 기억할 한 문장]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50000"/>
            <a:ext cx="11277600" cy="4500000"/>
          </a:xfrm>
        </p:spPr>
        <p:txBody>
          <a:bodyPr/>
          <a:lstStyle/>
          <a:p>
            <a:pPr/>
            <a:r>
              <a:rPr sz="1800" b="0">
                <a:solidFill>
                  <a:srgbClr val="1A1A1A"/>
                </a:solidFill>
                <a:latin typeface="맑은 고딕"/>
              </a:rPr>
              <a:t>핵심 메시지: [핵심 메시지 풀어쓰기 — 왜 이 말인가]</a:t>
            </a:r>
          </a:p>
          <a:p>
            <a:pPr/>
            <a:r>
              <a:rPr sz="1800" b="0">
                <a:solidFill>
                  <a:srgbClr val="1A1A1A"/>
                </a:solidFill>
                <a:latin typeface="맑은 고딕"/>
              </a:rPr>
              <a:t>톤앤매너: [말투·분위기·피할 것]</a:t>
            </a:r>
          </a:p>
          <a:p>
            <a:pPr/>
            <a:r>
              <a:rPr sz="1800" b="0">
                <a:solidFill>
                  <a:srgbClr val="1A1A1A"/>
                </a:solidFill>
                <a:latin typeface="맑은 고딕"/>
              </a:rPr>
              <a:t>필수 포함: [로고·고지 문구·법적 표기·필수 장면]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600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3D91"/>
                </a:solidFill>
                <a:latin typeface="맑은 고딕"/>
              </a:rPr>
              <a:t>05  메시지와 RTB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60000"/>
            <a:ext cx="11277600" cy="800000"/>
          </a:xfrm>
        </p:spPr>
        <p:txBody>
          <a:bodyPr/>
          <a:lstStyle/>
          <a:p>
            <a:pPr algn="l"/>
            <a:r>
              <a:rPr sz="2400" b="1">
                <a:solidFill>
                  <a:srgbClr val="1A1A1A"/>
                </a:solidFill>
                <a:latin typeface="맑은 고딕"/>
              </a:rPr>
              <a:t>믿을 이유(RTB)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600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3D91"/>
                </a:solidFill>
                <a:latin typeface="맑은 고딕"/>
              </a:rPr>
              <a:t>05  메시지와 RTB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700000"/>
          <a:ext cx="11277600" cy="16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200"/>
                <a:gridCol w="3759200"/>
                <a:gridCol w="3759200"/>
              </a:tblGrid>
              <a:tr h="420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RTB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근거가 되는 사실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소비자 언어로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[RTB 1]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[RTB 1의 근거 사실·출처]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[RTB 1를 소비자 말로]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[RTB 2]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[RTB 2의 근거 사실·출처]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[RTB 2를 소비자 말로]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[RTB 3]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[RTB 3의 근거 사실·출처]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[RTB 3를 소비자 말로]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058000"/>
            <a:ext cx="112776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5F66"/>
                </a:solidFill>
                <a:latin typeface="맑은 고딕"/>
              </a:rPr>
              <a:t>제품·서비스 사실만. 자료에 없으면 [확인 필요]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60000"/>
            <a:ext cx="11277600" cy="800000"/>
          </a:xfrm>
        </p:spPr>
        <p:txBody>
          <a:bodyPr/>
          <a:lstStyle/>
          <a:p>
            <a:pPr algn="l"/>
            <a:r>
              <a:rPr sz="2400" b="1">
                <a:solidFill>
                  <a:srgbClr val="1A1A1A"/>
                </a:solidFill>
                <a:latin typeface="맑은 고딕"/>
              </a:rPr>
              <a:t>[크리에이티브가 꼭 지킬 원칙 한 문장]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50000"/>
            <a:ext cx="11277600" cy="4500000"/>
          </a:xfrm>
        </p:spPr>
        <p:txBody>
          <a:bodyPr/>
          <a:lstStyle/>
          <a:p>
            <a:pPr/>
            <a:r>
              <a:rPr sz="1800" b="0">
                <a:solidFill>
                  <a:srgbClr val="1A1A1A"/>
                </a:solidFill>
                <a:latin typeface="맑은 고딕"/>
              </a:rPr>
              <a:t>1. [가이드 1 — 무엇을 / 왜]</a:t>
            </a:r>
          </a:p>
          <a:p>
            <a:pPr/>
            <a:r>
              <a:rPr sz="1800" b="0">
                <a:solidFill>
                  <a:srgbClr val="1A1A1A"/>
                </a:solidFill>
                <a:latin typeface="맑은 고딕"/>
              </a:rPr>
              <a:t>2. [가이드 2 — 무엇을 / 왜]</a:t>
            </a:r>
          </a:p>
          <a:p>
            <a:pPr/>
            <a:r>
              <a:rPr sz="1800" b="0">
                <a:solidFill>
                  <a:srgbClr val="1A1A1A"/>
                </a:solidFill>
                <a:latin typeface="맑은 고딕"/>
              </a:rPr>
              <a:t>3. [가이드 3 — 무엇을 / 왜]</a:t>
            </a:r>
          </a:p>
          <a:p>
            <a:pPr/>
            <a:r>
              <a:rPr sz="1800" b="0">
                <a:solidFill>
                  <a:srgbClr val="1A1A1A"/>
                </a:solidFill>
                <a:latin typeface="맑은 고딕"/>
              </a:rPr>
              <a:t>4. [가이드 4 — 무엇을 / 왜]</a:t>
            </a:r>
          </a:p>
          <a:p>
            <a:pPr/>
            <a:r>
              <a:rPr sz="1800" b="0">
                <a:solidFill>
                  <a:srgbClr val="1A1A1A"/>
                </a:solidFill>
                <a:latin typeface="맑은 고딕"/>
              </a:rPr>
              <a:t>피할 것: [광고주가 원하지 않는 표현·포맷]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600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3D91"/>
                </a:solidFill>
                <a:latin typeface="맑은 고딕"/>
              </a:rPr>
              <a:t>06  크리에이티브 가이드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60000"/>
            <a:ext cx="11277600" cy="800000"/>
          </a:xfrm>
        </p:spPr>
        <p:txBody>
          <a:bodyPr/>
          <a:lstStyle/>
          <a:p>
            <a:pPr algn="l"/>
            <a:r>
              <a:rPr sz="2400" b="1">
                <a:solidFill>
                  <a:srgbClr val="1A1A1A"/>
                </a:solidFill>
                <a:latin typeface="맑은 고딕"/>
              </a:rPr>
              <a:t>[통합 소재와 개별 소재의 관계 한 문장]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600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3D91"/>
                </a:solidFill>
                <a:latin typeface="맑은 고딕"/>
              </a:rPr>
              <a:t>07  소재 운영 구조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700000"/>
          <a:ext cx="11277600" cy="2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400"/>
                <a:gridCol w="2819400"/>
                <a:gridCol w="2819400"/>
                <a:gridCol w="2819400"/>
              </a:tblGrid>
              <a:tr h="420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소재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역할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핵심 메시지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초수·규격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통합 소재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[통합 소재의 역할]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[통합 소재 메시지]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[통합 소재 초수·규격]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[개별 소재 1]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[개별 소재 1의 역할]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[개별 소재 1 메시지]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[개별 소재 1 초수·규격]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[개별 소재 2]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[개별 소재 2의 역할]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[개별 소재 2 메시지]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[개별 소재 2 초수·규격]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[개별 소재 3]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[개별 소재 3의 역할]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[개별 소재 3 메시지]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[개별 소재 3 초수·규격]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60000"/>
            <a:ext cx="11277600" cy="800000"/>
          </a:xfrm>
        </p:spPr>
        <p:txBody>
          <a:bodyPr/>
          <a:lstStyle/>
          <a:p>
            <a:pPr algn="l"/>
            <a:r>
              <a:rPr sz="2400" b="1">
                <a:solidFill>
                  <a:srgbClr val="1A1A1A"/>
                </a:solidFill>
                <a:latin typeface="맑은 고딕"/>
              </a:rPr>
              <a:t>산출물과 일정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600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3D91"/>
                </a:solidFill>
                <a:latin typeface="맑은 고딕"/>
              </a:rPr>
              <a:t>08  산출물·일정·예산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00000"/>
            <a:ext cx="11277600" cy="3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A5F66"/>
                </a:solidFill>
                <a:latin typeface="맑은 고딕"/>
              </a:rPr>
              <a:t>캠페인 기간 [캠페인 기간]  ·  예산 [총예산]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700000"/>
          <a:ext cx="11277600" cy="2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400"/>
                <a:gridCol w="2819400"/>
                <a:gridCol w="2819400"/>
                <a:gridCol w="2819400"/>
              </a:tblGrid>
              <a:tr h="420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산출물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규격·초수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매체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마감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[산출물 1]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[산출물 1 규격·초수]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[산출물 1 매체]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[산출물 1 마감]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[산출물 2]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[산출물 2 규격·초수]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[산출물 2 매체]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[산출물 2 마감]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[산출물 3]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[산출물 3 규격·초수]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[산출물 3 매체]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[산출물 3 마감]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주요 일정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[아이디어 보고 날짜]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[시사 날짜]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[온에어 날짜]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058000"/>
            <a:ext cx="112776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5F66"/>
                </a:solidFill>
                <a:latin typeface="맑은 고딕"/>
              </a:rPr>
              <a:t>자료에 없는 금액·날짜는 비워 두고 [확인 필요]로 표시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60000"/>
            <a:ext cx="11277600" cy="800000"/>
          </a:xfrm>
        </p:spPr>
        <p:txBody>
          <a:bodyPr/>
          <a:lstStyle/>
          <a:p>
            <a:pPr algn="l"/>
            <a:r>
              <a:rPr sz="2400" b="1">
                <a:solidFill>
                  <a:srgbClr val="1A1A1A"/>
                </a:solidFill>
                <a:latin typeface="맑은 고딕"/>
              </a:rPr>
              <a:t>[참고할 방향 한 문장]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600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3D91"/>
                </a:solidFill>
                <a:latin typeface="맑은 고딕"/>
              </a:rPr>
              <a:t>09  레퍼런스와 아이디어 단초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50000"/>
            <a:ext cx="54888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B3D91"/>
                </a:solidFill>
                <a:latin typeface="맑은 고딕"/>
              </a:rPr>
              <a:t>레퍼런스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0000"/>
            <a:ext cx="5488800" cy="3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 b="0">
                <a:solidFill>
                  <a:srgbClr val="1A1A1A"/>
                </a:solidFill>
                <a:latin typeface="맑은 고딕"/>
              </a:rPr>
              <a:t>[레퍼런스 1] — [레퍼런스 1에서 가져올 점]</a:t>
            </a:r>
          </a:p>
          <a:p>
            <a:pPr/>
            <a:r>
              <a:rPr sz="1500" b="0">
                <a:solidFill>
                  <a:srgbClr val="1A1A1A"/>
                </a:solidFill>
                <a:latin typeface="맑은 고딕"/>
              </a:rPr>
              <a:t>[레퍼런스 2] — [레퍼런스 2에서 가져올 점]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6000" y="1650000"/>
            <a:ext cx="54888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B3D91"/>
                </a:solidFill>
                <a:latin typeface="맑은 고딕"/>
              </a:rPr>
              <a:t>아이디어 단초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46000" y="2100000"/>
            <a:ext cx="5488800" cy="3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 b="0">
                <a:solidFill>
                  <a:srgbClr val="1A1A1A"/>
                </a:solidFill>
                <a:latin typeface="맑은 고딕"/>
              </a:rPr>
              <a:t>[아이디어 단초 1]</a:t>
            </a:r>
          </a:p>
          <a:p>
            <a:pPr/>
            <a:r>
              <a:rPr sz="1500" b="0">
                <a:solidFill>
                  <a:srgbClr val="1A1A1A"/>
                </a:solidFill>
                <a:latin typeface="맑은 고딕"/>
              </a:rPr>
              <a:t>[아이디어 단초 2]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60000"/>
            <a:ext cx="11277600" cy="800000"/>
          </a:xfrm>
        </p:spPr>
        <p:txBody>
          <a:bodyPr/>
          <a:lstStyle/>
          <a:p>
            <a:pPr algn="l"/>
            <a:r>
              <a:rPr sz="2400" b="1">
                <a:solidFill>
                  <a:srgbClr val="1A1A1A"/>
                </a:solidFill>
                <a:latin typeface="맑은 고딕"/>
              </a:rPr>
              <a:t>확인할 것과 다음 단계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600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3D91"/>
                </a:solidFill>
                <a:latin typeface="맑은 고딕"/>
              </a:rPr>
              <a:t>10  확인할 것과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50000"/>
            <a:ext cx="54888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B3D91"/>
                </a:solidFill>
                <a:latin typeface="맑은 고딕"/>
              </a:rPr>
              <a:t>확인할 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0000"/>
            <a:ext cx="5488800" cy="3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 b="0">
                <a:solidFill>
                  <a:srgbClr val="1A1A1A"/>
                </a:solidFill>
                <a:latin typeface="맑은 고딕"/>
              </a:rPr>
              <a:t>[자료가 없어 비워 둔 항목과 누구에게 확인할지]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6000" y="1650000"/>
            <a:ext cx="54888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B3D91"/>
                </a:solidFill>
                <a:latin typeface="맑은 고딕"/>
              </a:rPr>
              <a:t>Next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46000" y="2100000"/>
            <a:ext cx="5488800" cy="3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 b="0">
                <a:solidFill>
                  <a:srgbClr val="1A1A1A"/>
                </a:solidFill>
                <a:latin typeface="맑은 고딕"/>
              </a:rPr>
              <a:t>[Next 1 — 할 일 · 담당 · 날짜]</a:t>
            </a:r>
          </a:p>
          <a:p>
            <a:pPr/>
            <a:r>
              <a:rPr sz="1500" b="0">
                <a:solidFill>
                  <a:srgbClr val="1A1A1A"/>
                </a:solidFill>
                <a:latin typeface="맑은 고딕"/>
              </a:rPr>
              <a:t>[Next 2 — 할 일 · 담당 · 날짜]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