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1A1A"/>
                </a:solidFill>
                <a:latin typeface="맑은 고딕"/>
              </a:rPr>
              <a:t>[캠페인명]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[광고주] 제안</a:t>
            </a:r>
          </a:p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[작성일]  ·  [팀명]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01  과제 정의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02  시장·경쟁 환경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03  타깃과 인사이트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04  전략 방향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05  크리에이티브 컨셉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06  실행 아이디어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07  미디어 전략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08  일정·예산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09  KPI와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[과제를 한 문장으로: 무엇을 누구에게서 얼마나]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사업 과제: [광고주가 풀려는 사업 문제]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커뮤니케이션 과제: [광고가 바꿔야 할 인식·행동]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목표 KPI: [KPI]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근거: [RFP·브리프의 해당 문장]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01  과제 정의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[시장에서 보이는 결론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[시장 사실 1] (출처: [시장 사실 1의 자료명·날짜])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[시장 사실 2] (출처: [시장 사실 2의 자료명·날짜])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[경쟁사 동향] (출처: [경쟁사 동향의 자료명·날짜])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시사점: [그래서 우리에게 무엇이 열려 있나]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02  시장·경쟁 환경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[타깃의 숨은 긴장을 한 문장으로]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핵심 타깃: [타깃]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지금의 행동·인식: [자료로 확인된 것]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인사이트: [~하지만 ~하다 꼴의 한 문장]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03  타깃과 인사이트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[핵심 메시지]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핵심 메시지: [타깃이 기억할 한 문장]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믿을 이유 1: [제품·서비스 근거 1]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믿을 이유 2: [제품·서비스 근거 2]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톤: [말투·분위기]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04  전략 방향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[컨셉 문구]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컨셉 설명: [왜 이 말인가, 2줄]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핵심 장면: [광고 한 장면 묘사]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05  크리에이티브 컨셉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[실행 전체를 묶는 한 문장]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[채널 1]: [채널 1의 실행 내용]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[채널 2]: [채널 2의 실행 내용]</a:t>
            </a:r>
          </a:p>
          <a:p>
            <a:pPr/>
            <a:r>
              <a:rPr sz="1800" b="0">
                <a:solidFill>
                  <a:srgbClr val="1A1A1A"/>
                </a:solidFill>
                <a:latin typeface="맑은 고딕"/>
              </a:rPr>
              <a:t>[채널 3]: [채널 3의 실행 내용]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06  실행 아이디어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[미디어 운영 원칙 한 문장]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07  미디어 전략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매체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[인지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[인지 매체]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[인지 매체의 역할]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관심·탐색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[관심·탐색 목표]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[관심·탐색 매체]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[관심·탐색 매체의 역할]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[전환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[전환 매체]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[전환 매체의 역할]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일정과 예산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08  일정·예산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예산(원)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준비·제작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[준비·제작 기간]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[준비·제작 예산]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[준비·제작 비고]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런칭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[런칭 기간]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[런칭 예산]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[런칭 비고]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유지·확산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[유지·확산 기간]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[유지·확산 예산]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[유지·확산 비고]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[캠페인 기간]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[총예산]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58000"/>
            <a:ext cx="112776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5F66"/>
                </a:solidFill>
                <a:latin typeface="맑은 고딕"/>
              </a:rPr>
              <a:t>자료에 없는 금액·날짜는 비워 두고 [확인 필요]로 표시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1A"/>
                </a:solidFill>
                <a:latin typeface="맑은 고딕"/>
              </a:rPr>
              <a:t>무엇으로 성공을 판단하나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00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3D91"/>
                </a:solidFill>
                <a:latin typeface="맑은 고딕"/>
              </a:rPr>
              <a:t>09  KPI와 측정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0000"/>
          <a:ext cx="112776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2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측정 방법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측정 시점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1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1 측정 방법]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1 측정 시점]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2]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2 목표]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2 측정 방법]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2 측정 시점]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3 목표]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3 측정 방법]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맑은 고딕"/>
                        </a:rPr>
                        <a:t>[KPI 3 측정 시점]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1A1A"/>
                </a:solidFill>
                <a:latin typeface="맑은 고딕"/>
              </a:rPr>
              <a:t>[맺음: 핵심 메시지 한 번 더]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감사합니다</a:t>
            </a:r>
          </a:p>
          <a:p>
            <a:pPr algn="ctr"/>
            <a:r>
              <a:rPr sz="1800" b="0">
                <a:solidFill>
                  <a:srgbClr val="5A5F66"/>
                </a:solidFill>
                <a:latin typeface="맑은 고딕"/>
              </a:rPr>
              <a:t>[팀명]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